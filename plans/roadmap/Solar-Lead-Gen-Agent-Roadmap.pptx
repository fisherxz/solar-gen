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Solar Lead Gen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1" i="1" u="none">
                <a:solidFill>
                  <a:srgbClr val="444444"/>
                </a:solidFill>
                <a:latin typeface="Segoe UI Light"/>
              </a:rPr>
              <a:t>Product Roadmap — From Research to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1. My Vision Why this product needs to exist 2. My Thinking The key insight that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drives everything 3. My Research Project lifecycle &amp; EPC discovery channels 4.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Research → Product Design How findings shaped the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Chapter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u="none">
                <a:solidFill>
                  <a:srgbClr val="444444"/>
                </a:solidFill>
                <a:latin typeface="Segoe UI"/>
              </a:rPr>
              <a:t>Brief description of what this chapter covers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 u="none">
                <a:solidFill>
                  <a:srgbClr val="0078D7"/>
                </a:solidFill>
                <a:latin typeface="Segoe UI"/>
              </a:rPr>
              <a:t>The Problem: Manual Lead Discovery</a:t>
            </a:r>
          </a:p>
        </p:txBody>
      </p:sp>
      <p:sp>
        <p:nvSpPr>
          <p:cNvPr id="5" name="Oval 4"/>
          <p:cNvSpPr/>
          <p:nvPr/>
        </p:nvSpPr>
        <p:spPr>
          <a:xfrm>
            <a:off x="4206240" y="2743200"/>
            <a:ext cx="731520" cy="731520"/>
          </a:xfrm>
          <a:prstGeom prst="ellipse">
            <a:avLst/>
          </a:prstGeom>
          <a:solidFill>
            <a:srgbClr val="FFC000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27432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 Semibold"/>
              </a:rPr>
              <a:t>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282828"/>
                </a:solidFill>
                <a:latin typeface="Segoe UI Light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✗ Manual processes taking 8+ hours ✗ 40% error rate in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operations ✗ Limited scalability options ✗ Customer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complaints increasing ✗ High operational costs ✗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Inefficient resource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0078D7"/>
                </a:solidFill>
                <a:latin typeface="Segoe UI Light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2024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✓ Automated workflows in 2 hours ✓ 2% error rate with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AI validation ✓ Infinite scalability in cloud ✓ 98%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customer satisfaction score ✓ 60% reduction in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operational costs ✓ Optimized resource management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74720" y="5669280"/>
            <a:ext cx="2194560" cy="54864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6309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1" u="none">
                <a:solidFill>
                  <a:srgbClr val="FFC000"/>
                </a:solidFill>
                <a:latin typeface="Segoe UI Semibold"/>
              </a:rPr>
              <a:t>75% Overall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Three Layers of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Section 1: • Point A • Point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256032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716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Section 2: • Point C • Point 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383280"/>
            <a:ext cx="256032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3716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Section 3: • Point E • Point 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383280"/>
            <a:ext cx="256032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Chapter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u="none">
                <a:solidFill>
                  <a:srgbClr val="444444"/>
                </a:solidFill>
                <a:latin typeface="Segoe UI"/>
              </a:rPr>
              <a:t>Brief description of what this chapter covers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700" b="1" i="0" u="none">
                <a:solidFill>
                  <a:srgbClr val="0078D7"/>
                </a:solidFill>
                <a:latin typeface="Segoe UI"/>
              </a:rPr>
              <a:t>Choose Your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480560" cy="5486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1371600"/>
            <a:ext cx="4480560" cy="5486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828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FFFFFF"/>
                </a:solidFill>
                <a:latin typeface="Segoe UI Light"/>
              </a:rPr>
              <a:t>What Scrapers Give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u="none">
                <a:solidFill>
                  <a:srgbClr val="FFFFFF"/>
                </a:solidFill>
                <a:latin typeface="Segoe UI Light"/>
              </a:rPr>
              <a:t>What Sales Actually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ISO queues tell you WHAT projects exist → Developer name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(financial entity) → MW capacity → County &amp; state → Queue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date This is a data dump. 2,000 rows with no one to 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WHO is building each project → The EPC contractor → The one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on-site, grading land → The one buying equipment → The one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making robot decisions The EPC is the customer. No public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database maps projects → EPCs.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371600"/>
            <a:ext cx="9144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Chapter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u="none">
                <a:solidFill>
                  <a:srgbClr val="444444"/>
                </a:solidFill>
                <a:latin typeface="Segoe UI"/>
              </a:rPr>
              <a:t>Brief description of what this chapter covers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u="none">
                <a:solidFill>
                  <a:srgbClr val="0078D7"/>
                </a:solidFill>
                <a:latin typeface="Segoe UI"/>
              </a:rPr>
              <a:t>Project Lifecycle: When Each Data Source Appears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7315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971800"/>
            <a:ext cx="457200" cy="45720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Phase 1 Q1 2024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2971800"/>
            <a:ext cx="457200" cy="45720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Phase 2 Q2 2024</a:t>
            </a:r>
          </a:p>
        </p:txBody>
      </p:sp>
      <p:sp>
        <p:nvSpPr>
          <p:cNvPr id="10" name="Oval 9"/>
          <p:cNvSpPr/>
          <p:nvPr/>
        </p:nvSpPr>
        <p:spPr>
          <a:xfrm>
            <a:off x="5029200" y="2971800"/>
            <a:ext cx="457200" cy="45720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Phase 3 Q3 2024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2971800"/>
            <a:ext cx="457200" cy="4572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Launch Q4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The 5 EPC Disclosure Channels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7315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768096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$1.2M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$1.5M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$1.8M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Customers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1,200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1,500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1,800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Satisfaction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4.2/5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4.4/5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4.6/5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1" u="none">
                <a:solidFill>
                  <a:srgbClr val="444444"/>
                </a:solidFill>
                <a:latin typeface="Segoe UI"/>
              </a:rPr>
              <a:t>Key insight: Consistent growth across all metrics with strong customer satisfaction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 u="none">
                <a:solidFill>
                  <a:srgbClr val="0078D7"/>
                </a:solidFill>
                <a:latin typeface="Segoe UI"/>
              </a:rPr>
              <a:t>Verified Developer → EPC Examples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7315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768096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0078D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$1.2M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$1.5M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$1.8M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Customers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1,200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1,500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1,800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Satisfaction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4.2/5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4.4/5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4.6/5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1" u="none">
                <a:solidFill>
                  <a:srgbClr val="444444"/>
                </a:solidFill>
                <a:latin typeface="Segoe UI"/>
              </a:rPr>
              <a:t>Key insight: Consistent growth across all metrics with strong customer satisfaction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Chapter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u="none">
                <a:solidFill>
                  <a:srgbClr val="444444"/>
                </a:solidFill>
                <a:latin typeface="Segoe UI"/>
              </a:rPr>
              <a:t>Brief description of what this chapter covers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u="none">
                <a:solidFill>
                  <a:srgbClr val="0078D7"/>
                </a:solidFill>
                <a:latin typeface="Segoe UI"/>
              </a:rPr>
              <a:t>The Knowledge Graph: Intelligence That Compounds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Data Collection &amp; 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AI-Powered Processing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Optimization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Intelligent Delivery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Complete automation reduces processing time by 85% ⚡ Real-time optimization delivers instant insights 🔄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Continuous learning improves accuracy over time 📊 Comprehensive analytics provide actionable intelligence 🚀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Scalable architecture grows with your business needs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 u="none">
                <a:solidFill>
                  <a:srgbClr val="0078D7"/>
                </a:solidFill>
                <a:latin typeface="Segoe UI"/>
              </a:rPr>
              <a:t>Implementation Phases: Prioritized by Lead Actionability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7315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971800"/>
            <a:ext cx="457200" cy="45720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Phase 1 Q1 2024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2971800"/>
            <a:ext cx="457200" cy="45720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Phase 2 Q2 2024</a:t>
            </a:r>
          </a:p>
        </p:txBody>
      </p:sp>
      <p:sp>
        <p:nvSpPr>
          <p:cNvPr id="10" name="Oval 9"/>
          <p:cNvSpPr/>
          <p:nvPr/>
        </p:nvSpPr>
        <p:spPr>
          <a:xfrm>
            <a:off x="5029200" y="2971800"/>
            <a:ext cx="457200" cy="45720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Phase 3 Q3 2024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2971800"/>
            <a:ext cx="457200" cy="4572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Launch Q4 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f25ad27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Key questions for Liav: 1. Validate the 10 EPC examples against industry knowledge</a:t>
            </a:r>
          </a:p>
          <a:p>
            <a:pPr algn="ctr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2. Target EPC profile: which EPCs are ideal customers? 3. Target project size: is</a:t>
            </a:r>
          </a:p>
          <a:p>
            <a:pPr algn="ctr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&gt;20MW the right minimum? 4. Which ISOs matter most after ERCOT, CAISO, MISO? 5.</a:t>
            </a:r>
          </a:p>
          <a:p>
            <a:pPr algn="ctr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What makes a lead actionable vs interesting but not ready?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Lead Gen Agent — Product Roadmap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